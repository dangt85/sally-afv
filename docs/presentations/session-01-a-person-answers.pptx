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Cairn is a small outdoor retailer. Every support call is a person, including the easy ones. Today we only build the phone system those calls arrive on. The agent is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is the phone side: the number, the greeting, the contact flow. Salesforce is where a rep works: the softphone, the voice-call record, the queue. If someone asks about the agent, the answer is the same number, next time. Don't open Agent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org. Contact-center creation can sit on a spinner — talk through what Salesforce is creating, and cut the wait if it runs long. The first call usually fails on presence, the routing profile, or the number not being on the flow. Fix that live. Don't edit the flow to add the agent, even if you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the call. Answer it. Hang up. One sentence on the way out: next time this number rings the agent, and this queue is where a person still picks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CODE WITH SALLY</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1  OF  5</a:t>
            </a:r>
            <a:endParaRPr lang="en-US" sz="1200" dirty="0"/>
          </a:p>
        </p:txBody>
      </p:sp>
      <p:sp>
        <p:nvSpPr>
          <p:cNvPr id="4" name="Text 2"/>
          <p:cNvSpPr/>
          <p:nvPr/>
        </p:nvSpPr>
        <p:spPr>
          <a:xfrm>
            <a:off x="594360" y="1691640"/>
            <a:ext cx="10972800" cy="2468880"/>
          </a:xfrm>
          <a:prstGeom prst="rect">
            <a:avLst/>
          </a:prstGeom>
          <a:noFill/>
          <a:ln/>
        </p:spPr>
        <p:txBody>
          <a:bodyPr wrap="square" lIns="0" tIns="0" rIns="0" bIns="0" rtlCol="0" anchor="t"/>
          <a:lstStyle/>
          <a:p>
            <a:pPr indent="0" marL="0">
              <a:buNone/>
            </a:pPr>
            <a:r>
              <a:rPr lang="en-US" sz="6000" dirty="0">
                <a:solidFill>
                  <a:srgbClr val="24362C"/>
                </a:solidFill>
                <a:latin typeface="Georgia" pitchFamily="34" charset="0"/>
                <a:ea typeface="Georgia" pitchFamily="34" charset="-122"/>
                <a:cs typeface="Georgia" pitchFamily="34" charset="-120"/>
              </a:rPr>
              <a:t>A person answers</a:t>
            </a:r>
            <a:endParaRPr lang="en-US" sz="6000" dirty="0"/>
          </a:p>
          <a:p>
            <a:pPr indent="0" marL="0">
              <a:buNone/>
            </a:pPr>
            <a:r>
              <a:rPr lang="en-US" sz="6000" dirty="0">
                <a:solidFill>
                  <a:srgbClr val="24362C"/>
                </a:solidFill>
                <a:latin typeface="Georgia" pitchFamily="34" charset="0"/>
                <a:ea typeface="Georgia" pitchFamily="34" charset="-122"/>
                <a:cs typeface="Georgia" pitchFamily="34" charset="-120"/>
              </a:rPr>
              <a:t>the phone.</a:t>
            </a:r>
            <a:endParaRPr lang="en-US" sz="6000" dirty="0"/>
          </a:p>
        </p:txBody>
      </p:sp>
      <p:sp>
        <p:nvSpPr>
          <p:cNvPr id="5" name="Text 3"/>
          <p:cNvSpPr/>
          <p:nvPr/>
        </p:nvSpPr>
        <p:spPr>
          <a:xfrm>
            <a:off x="594360" y="4709160"/>
            <a:ext cx="9692640" cy="1051560"/>
          </a:xfrm>
          <a:prstGeom prst="rect">
            <a:avLst/>
          </a:prstGeom>
          <a:noFill/>
          <a:ln/>
        </p:spPr>
        <p:txBody>
          <a:bodyPr wrap="square" lIns="0" tIns="0" rIns="0" bIns="0" rtlCol="0" anchor="ctr"/>
          <a:lstStyle/>
          <a:p>
            <a:pPr indent="0" marL="0">
              <a:buNone/>
            </a:pPr>
            <a:r>
              <a:rPr lang="en-US" sz="2000" dirty="0">
                <a:solidFill>
                  <a:srgbClr val="3E5144"/>
                </a:solidFill>
                <a:latin typeface="Arial" pitchFamily="34" charset="0"/>
                <a:ea typeface="Arial" pitchFamily="34" charset="-122"/>
                <a:cs typeface="Arial" pitchFamily="34" charset="-120"/>
              </a:rPr>
              <a:t>Stand up Amazon Connect and Salesforce Voice, then take one call.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CAIRN OUTDOOR CO.</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1</a:t>
            </a:r>
            <a:endParaRPr lang="en-US" sz="1200" dirty="0"/>
          </a:p>
        </p:txBody>
      </p:sp>
      <p:sp>
        <p:nvSpPr>
          <p:cNvPr id="4" name="Text 2"/>
          <p:cNvSpPr/>
          <p:nvPr/>
        </p:nvSpPr>
        <p:spPr>
          <a:xfrm>
            <a:off x="594360" y="822960"/>
            <a:ext cx="10972800" cy="640080"/>
          </a:xfrm>
          <a:prstGeom prst="rect">
            <a:avLst/>
          </a:prstGeom>
          <a:noFill/>
          <a:ln/>
        </p:spPr>
        <p:txBody>
          <a:bodyPr wrap="square" lIns="0" tIns="0" rIns="0" bIns="0" rtlCol="0" anchor="ctr"/>
          <a:lstStyle/>
          <a:p>
            <a:pPr indent="0" marL="0">
              <a:buNone/>
            </a:pPr>
            <a:r>
              <a:rPr lang="en-US" sz="3200" dirty="0">
                <a:solidFill>
                  <a:srgbClr val="24362C"/>
                </a:solidFill>
                <a:latin typeface="Georgia" pitchFamily="34" charset="0"/>
                <a:ea typeface="Georgia" pitchFamily="34" charset="-122"/>
                <a:cs typeface="Georgia" pitchFamily="34" charset="-120"/>
              </a:rPr>
              <a:t>Only two of these exist today.</a:t>
            </a:r>
            <a:endParaRPr lang="en-US" sz="3200" dirty="0"/>
          </a:p>
        </p:txBody>
      </p:sp>
      <p:sp>
        <p:nvSpPr>
          <p:cNvPr id="5" name="Shape 3"/>
          <p:cNvSpPr/>
          <p:nvPr/>
        </p:nvSpPr>
        <p:spPr>
          <a:xfrm>
            <a:off x="594360" y="1828800"/>
            <a:ext cx="3474720" cy="4297680"/>
          </a:xfrm>
          <a:prstGeom prst="rect">
            <a:avLst/>
          </a:prstGeom>
          <a:solidFill>
            <a:srgbClr val="24362C"/>
          </a:solidFill>
          <a:ln/>
        </p:spPr>
      </p:sp>
      <p:sp>
        <p:nvSpPr>
          <p:cNvPr id="6" name="Text 4"/>
          <p:cNvSpPr/>
          <p:nvPr/>
        </p:nvSpPr>
        <p:spPr>
          <a:xfrm>
            <a:off x="886968" y="2157984"/>
            <a:ext cx="2889504" cy="292608"/>
          </a:xfrm>
          <a:prstGeom prst="rect">
            <a:avLst/>
          </a:prstGeom>
          <a:noFill/>
          <a:ln/>
        </p:spPr>
        <p:txBody>
          <a:bodyPr wrap="square" lIns="0" tIns="0" rIns="0" bIns="0" rtlCol="0" anchor="ctr"/>
          <a:lstStyle/>
          <a:p>
            <a:pPr indent="0" marL="0">
              <a:buNone/>
            </a:pPr>
            <a:r>
              <a:rPr lang="en-US" sz="1300" spc="140" kern="0" dirty="0">
                <a:solidFill>
                  <a:srgbClr val="E4D5C8"/>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886968" y="2880360"/>
            <a:ext cx="2889504" cy="1234440"/>
          </a:xfrm>
          <a:prstGeom prst="rect">
            <a:avLst/>
          </a:prstGeom>
          <a:noFill/>
          <a:ln/>
        </p:spPr>
        <p:txBody>
          <a:bodyPr wrap="square" lIns="0" tIns="0" rIns="0" bIns="0" rtlCol="0" anchor="ctr"/>
          <a:lstStyle/>
          <a:p>
            <a:pPr indent="0" marL="0">
              <a:buNone/>
            </a:pPr>
            <a:r>
              <a:rPr lang="en-US" sz="2600" dirty="0">
                <a:solidFill>
                  <a:srgbClr val="F3EEE4"/>
                </a:solidFill>
                <a:latin typeface="Georgia" pitchFamily="34" charset="0"/>
                <a:ea typeface="Georgia" pitchFamily="34" charset="-122"/>
                <a:cs typeface="Georgia" pitchFamily="34" charset="-120"/>
              </a:rPr>
              <a:t>Amazon Connect</a:t>
            </a:r>
            <a:endParaRPr lang="en-US" sz="2600" dirty="0"/>
          </a:p>
        </p:txBody>
      </p:sp>
      <p:sp>
        <p:nvSpPr>
          <p:cNvPr id="8" name="Text 6"/>
          <p:cNvSpPr/>
          <p:nvPr/>
        </p:nvSpPr>
        <p:spPr>
          <a:xfrm>
            <a:off x="886968" y="4297680"/>
            <a:ext cx="2889504" cy="1417320"/>
          </a:xfrm>
          <a:prstGeom prst="rect">
            <a:avLst/>
          </a:prstGeom>
          <a:noFill/>
          <a:ln/>
        </p:spPr>
        <p:txBody>
          <a:bodyPr wrap="square" lIns="0" tIns="0" rIns="0" bIns="0" rtlCol="0" anchor="ctr"/>
          <a:lstStyle/>
          <a:p>
            <a:pPr indent="0" marL="0">
              <a:buNone/>
            </a:pPr>
            <a:r>
              <a:rPr lang="en-US" sz="1600" dirty="0">
                <a:solidFill>
                  <a:srgbClr val="E4D5C8"/>
                </a:solidFill>
                <a:latin typeface="Arial" pitchFamily="34" charset="0"/>
                <a:ea typeface="Arial" pitchFamily="34" charset="-122"/>
                <a:cs typeface="Arial" pitchFamily="34" charset="-120"/>
              </a:rPr>
              <a:t>Owns the phone number, the greeting, and the contact flow.</a:t>
            </a:r>
            <a:endParaRPr lang="en-US" sz="1600" dirty="0"/>
          </a:p>
        </p:txBody>
      </p:sp>
      <p:sp>
        <p:nvSpPr>
          <p:cNvPr id="9" name="Shape 7"/>
          <p:cNvSpPr/>
          <p:nvPr/>
        </p:nvSpPr>
        <p:spPr>
          <a:xfrm>
            <a:off x="4325112" y="1828800"/>
            <a:ext cx="3474720" cy="4297680"/>
          </a:xfrm>
          <a:prstGeom prst="rect">
            <a:avLst/>
          </a:prstGeom>
          <a:solidFill>
            <a:srgbClr val="24362C"/>
          </a:solidFill>
          <a:ln/>
        </p:spPr>
      </p:sp>
      <p:sp>
        <p:nvSpPr>
          <p:cNvPr id="10" name="Text 8"/>
          <p:cNvSpPr/>
          <p:nvPr/>
        </p:nvSpPr>
        <p:spPr>
          <a:xfrm>
            <a:off x="4617720" y="2157984"/>
            <a:ext cx="2889504" cy="292608"/>
          </a:xfrm>
          <a:prstGeom prst="rect">
            <a:avLst/>
          </a:prstGeom>
          <a:noFill/>
          <a:ln/>
        </p:spPr>
        <p:txBody>
          <a:bodyPr wrap="square" lIns="0" tIns="0" rIns="0" bIns="0" rtlCol="0" anchor="ctr"/>
          <a:lstStyle/>
          <a:p>
            <a:pPr indent="0" marL="0">
              <a:buNone/>
            </a:pPr>
            <a:r>
              <a:rPr lang="en-US" sz="1300" spc="140" kern="0" dirty="0">
                <a:solidFill>
                  <a:srgbClr val="E4D5C8"/>
                </a:solidFill>
                <a:latin typeface="Arial" pitchFamily="34" charset="0"/>
                <a:ea typeface="Arial" pitchFamily="34" charset="-122"/>
                <a:cs typeface="Arial" pitchFamily="34" charset="-120"/>
              </a:rPr>
              <a:t>02</a:t>
            </a:r>
            <a:endParaRPr lang="en-US" sz="1300" dirty="0"/>
          </a:p>
        </p:txBody>
      </p:sp>
      <p:sp>
        <p:nvSpPr>
          <p:cNvPr id="11" name="Text 9"/>
          <p:cNvSpPr/>
          <p:nvPr/>
        </p:nvSpPr>
        <p:spPr>
          <a:xfrm>
            <a:off x="4617720" y="2880360"/>
            <a:ext cx="2889504" cy="1234440"/>
          </a:xfrm>
          <a:prstGeom prst="rect">
            <a:avLst/>
          </a:prstGeom>
          <a:noFill/>
          <a:ln/>
        </p:spPr>
        <p:txBody>
          <a:bodyPr wrap="square" lIns="0" tIns="0" rIns="0" bIns="0" rtlCol="0" anchor="ctr"/>
          <a:lstStyle/>
          <a:p>
            <a:pPr indent="0" marL="0">
              <a:buNone/>
            </a:pPr>
            <a:r>
              <a:rPr lang="en-US" sz="2600" dirty="0">
                <a:solidFill>
                  <a:srgbClr val="F3EEE4"/>
                </a:solidFill>
                <a:latin typeface="Georgia" pitchFamily="34" charset="0"/>
                <a:ea typeface="Georgia" pitchFamily="34" charset="-122"/>
                <a:cs typeface="Georgia" pitchFamily="34" charset="-120"/>
              </a:rPr>
              <a:t>Salesforce Voice</a:t>
            </a:r>
            <a:endParaRPr lang="en-US" sz="2600" dirty="0"/>
          </a:p>
        </p:txBody>
      </p:sp>
      <p:sp>
        <p:nvSpPr>
          <p:cNvPr id="12" name="Text 10"/>
          <p:cNvSpPr/>
          <p:nvPr/>
        </p:nvSpPr>
        <p:spPr>
          <a:xfrm>
            <a:off x="4617720" y="4297680"/>
            <a:ext cx="2889504" cy="1417320"/>
          </a:xfrm>
          <a:prstGeom prst="rect">
            <a:avLst/>
          </a:prstGeom>
          <a:noFill/>
          <a:ln/>
        </p:spPr>
        <p:txBody>
          <a:bodyPr wrap="square" lIns="0" tIns="0" rIns="0" bIns="0" rtlCol="0" anchor="ctr"/>
          <a:lstStyle/>
          <a:p>
            <a:pPr indent="0" marL="0">
              <a:buNone/>
            </a:pPr>
            <a:r>
              <a:rPr lang="en-US" sz="1600" dirty="0">
                <a:solidFill>
                  <a:srgbClr val="E4D5C8"/>
                </a:solidFill>
                <a:latin typeface="Arial" pitchFamily="34" charset="0"/>
                <a:ea typeface="Arial" pitchFamily="34" charset="-122"/>
                <a:cs typeface="Arial" pitchFamily="34" charset="-120"/>
              </a:rPr>
              <a:t>Where the rep picks up. Softphone, voice-call record, and the queue.</a:t>
            </a:r>
            <a:endParaRPr lang="en-US" sz="1600" dirty="0"/>
          </a:p>
        </p:txBody>
      </p:sp>
      <p:sp>
        <p:nvSpPr>
          <p:cNvPr id="13" name="Shape 11"/>
          <p:cNvSpPr/>
          <p:nvPr/>
        </p:nvSpPr>
        <p:spPr>
          <a:xfrm>
            <a:off x="8055864" y="1828800"/>
            <a:ext cx="3474720" cy="4297680"/>
          </a:xfrm>
          <a:prstGeom prst="rect">
            <a:avLst/>
          </a:prstGeom>
          <a:solidFill>
            <a:srgbClr val="F7F3EB"/>
          </a:solidFill>
          <a:ln w="15875">
            <a:solidFill>
              <a:srgbClr val="D9CDB8"/>
            </a:solidFill>
            <a:prstDash val="solid"/>
          </a:ln>
        </p:spPr>
      </p:sp>
      <p:sp>
        <p:nvSpPr>
          <p:cNvPr id="14" name="Text 12"/>
          <p:cNvSpPr/>
          <p:nvPr/>
        </p:nvSpPr>
        <p:spPr>
          <a:xfrm>
            <a:off x="8348472" y="2157984"/>
            <a:ext cx="2889504" cy="292608"/>
          </a:xfrm>
          <a:prstGeom prst="rect">
            <a:avLst/>
          </a:prstGeom>
          <a:noFill/>
          <a:ln/>
        </p:spPr>
        <p:txBody>
          <a:bodyPr wrap="square" lIns="0" tIns="0" rIns="0" bIns="0" rtlCol="0" anchor="ctr"/>
          <a:lstStyle/>
          <a:p>
            <a:pPr indent="0" marL="0">
              <a:buNone/>
            </a:pPr>
            <a:r>
              <a:rPr lang="en-US" sz="1300" spc="140" kern="0" dirty="0">
                <a:solidFill>
                  <a:srgbClr val="A86647"/>
                </a:solidFill>
                <a:latin typeface="Arial" pitchFamily="34" charset="0"/>
                <a:ea typeface="Arial" pitchFamily="34" charset="-122"/>
                <a:cs typeface="Arial" pitchFamily="34" charset="-120"/>
              </a:rPr>
              <a:t>LATER</a:t>
            </a:r>
            <a:endParaRPr lang="en-US" sz="1300" dirty="0"/>
          </a:p>
        </p:txBody>
      </p:sp>
      <p:sp>
        <p:nvSpPr>
          <p:cNvPr id="15" name="Text 13"/>
          <p:cNvSpPr/>
          <p:nvPr/>
        </p:nvSpPr>
        <p:spPr>
          <a:xfrm>
            <a:off x="8348472" y="2880360"/>
            <a:ext cx="2889504" cy="1234440"/>
          </a:xfrm>
          <a:prstGeom prst="rect">
            <a:avLst/>
          </a:prstGeom>
          <a:noFill/>
          <a:ln/>
        </p:spPr>
        <p:txBody>
          <a:bodyPr wrap="square" lIns="0" tIns="0" rIns="0" bIns="0" rtlCol="0" anchor="ctr"/>
          <a:lstStyle/>
          <a:p>
            <a:pPr indent="0" marL="0">
              <a:buNone/>
            </a:pPr>
            <a:r>
              <a:rPr lang="en-US" sz="2600" dirty="0">
                <a:solidFill>
                  <a:srgbClr val="24362C"/>
                </a:solidFill>
                <a:latin typeface="Georgia" pitchFamily="34" charset="0"/>
                <a:ea typeface="Georgia" pitchFamily="34" charset="-122"/>
                <a:cs typeface="Georgia" pitchFamily="34" charset="-120"/>
              </a:rPr>
              <a:t>The agent</a:t>
            </a:r>
            <a:endParaRPr lang="en-US" sz="2600" dirty="0"/>
          </a:p>
        </p:txBody>
      </p:sp>
      <p:sp>
        <p:nvSpPr>
          <p:cNvPr id="16" name="Text 14"/>
          <p:cNvSpPr/>
          <p:nvPr/>
        </p:nvSpPr>
        <p:spPr>
          <a:xfrm>
            <a:off x="8348472" y="4297680"/>
            <a:ext cx="2889504" cy="1417320"/>
          </a:xfrm>
          <a:prstGeom prst="rect">
            <a:avLst/>
          </a:prstGeom>
          <a:noFill/>
          <a:ln/>
        </p:spPr>
        <p:txBody>
          <a:bodyPr wrap="square" lIns="0" tIns="0" rIns="0" bIns="0" rtlCol="0" anchor="ctr"/>
          <a:lstStyle/>
          <a:p>
            <a:pPr indent="0" marL="0">
              <a:buNone/>
            </a:pPr>
            <a:r>
              <a:rPr lang="en-US" sz="1600" dirty="0">
                <a:solidFill>
                  <a:srgbClr val="3E5144"/>
                </a:solidFill>
                <a:latin typeface="Arial" pitchFamily="34" charset="0"/>
                <a:ea typeface="Arial" pitchFamily="34" charset="-122"/>
                <a:cs typeface="Arial" pitchFamily="34" charset="-120"/>
              </a:rPr>
              <a:t>Same number. It does not exist yet.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4"/>
        </a:solidFill>
      </p:bgPr>
    </p:bg>
    <p:spTree>
      <p:nvGrpSpPr>
        <p:cNvPr id="1" name=""/>
        <p:cNvGrpSpPr/>
        <p:nvPr/>
      </p:nvGrpSpPr>
      <p:grpSpPr>
        <a:xfrm>
          <a:off x="0" y="0"/>
          <a:ext cx="0" cy="0"/>
          <a:chOff x="0" y="0"/>
          <a:chExt cx="0" cy="0"/>
        </a:xfrm>
      </p:grpSpPr>
      <p:sp>
        <p:nvSpPr>
          <p:cNvPr id="2" name="Text 0"/>
          <p:cNvSpPr/>
          <p:nvPr/>
        </p:nvSpPr>
        <p:spPr>
          <a:xfrm>
            <a:off x="594360" y="347472"/>
            <a:ext cx="5669280" cy="292608"/>
          </a:xfrm>
          <a:prstGeom prst="rect">
            <a:avLst/>
          </a:prstGeom>
          <a:noFill/>
          <a:ln/>
        </p:spPr>
        <p:txBody>
          <a:bodyPr wrap="square" lIns="0" tIns="0" rIns="0" bIns="0" rtlCol="0" anchor="ctr"/>
          <a:lstStyle/>
          <a:p>
            <a:pPr indent="0" marL="0">
              <a:buNone/>
            </a:pPr>
            <a:r>
              <a:rPr lang="en-US" sz="1200" spc="160" kern="0" dirty="0">
                <a:solidFill>
                  <a:srgbClr val="A86647"/>
                </a:solidFill>
                <a:latin typeface="Arial" pitchFamily="34" charset="0"/>
                <a:ea typeface="Arial" pitchFamily="34" charset="-122"/>
                <a:cs typeface="Arial" pitchFamily="34" charset="-120"/>
              </a:rPr>
              <a:t>ON SCREEN</a:t>
            </a:r>
            <a:endParaRPr lang="en-US" sz="1200" dirty="0"/>
          </a:p>
        </p:txBody>
      </p:sp>
      <p:sp>
        <p:nvSpPr>
          <p:cNvPr id="3" name="Text 1"/>
          <p:cNvSpPr/>
          <p:nvPr/>
        </p:nvSpPr>
        <p:spPr>
          <a:xfrm>
            <a:off x="6675120" y="347472"/>
            <a:ext cx="4919472" cy="292608"/>
          </a:xfrm>
          <a:prstGeom prst="rect">
            <a:avLst/>
          </a:prstGeom>
          <a:noFill/>
          <a:ln/>
        </p:spPr>
        <p:txBody>
          <a:bodyPr wrap="square" lIns="0" tIns="0" rIns="0" bIns="0" rtlCol="0" anchor="ctr"/>
          <a:lstStyle/>
          <a:p>
            <a:pPr algn="r" indent="0" marL="0">
              <a:buNone/>
            </a:pPr>
            <a:r>
              <a:rPr lang="en-US" sz="1200" spc="140" kern="0" dirty="0">
                <a:solidFill>
                  <a:srgbClr val="5C6B60"/>
                </a:solidFill>
                <a:latin typeface="Arial" pitchFamily="34" charset="0"/>
                <a:ea typeface="Arial" pitchFamily="34" charset="-122"/>
                <a:cs typeface="Arial" pitchFamily="34" charset="-120"/>
              </a:rPr>
              <a:t>SESSION 1</a:t>
            </a:r>
            <a:endParaRPr lang="en-US" sz="1200" dirty="0"/>
          </a:p>
        </p:txBody>
      </p:sp>
      <p:sp>
        <p:nvSpPr>
          <p:cNvPr id="4" name="Text 2"/>
          <p:cNvSpPr/>
          <p:nvPr/>
        </p:nvSpPr>
        <p:spPr>
          <a:xfrm>
            <a:off x="594360" y="786384"/>
            <a:ext cx="10972800" cy="566928"/>
          </a:xfrm>
          <a:prstGeom prst="rect">
            <a:avLst/>
          </a:prstGeom>
          <a:noFill/>
          <a:ln/>
        </p:spPr>
        <p:txBody>
          <a:bodyPr wrap="square" lIns="0" tIns="0" rIns="0" bIns="0" rtlCol="0" anchor="ctr"/>
          <a:lstStyle/>
          <a:p>
            <a:pPr indent="0" marL="0">
              <a:buNone/>
            </a:pPr>
            <a:r>
              <a:rPr lang="en-US" sz="3200" dirty="0">
                <a:solidFill>
                  <a:srgbClr val="24362C"/>
                </a:solidFill>
                <a:latin typeface="Georgia" pitchFamily="34" charset="0"/>
                <a:ea typeface="Georgia" pitchFamily="34" charset="-122"/>
                <a:cs typeface="Georgia" pitchFamily="34" charset="-120"/>
              </a:rPr>
              <a:t>Then I share my screen.</a:t>
            </a:r>
            <a:endParaRPr lang="en-US" sz="3200" dirty="0"/>
          </a:p>
        </p:txBody>
      </p:sp>
      <p:sp>
        <p:nvSpPr>
          <p:cNvPr id="5" name="Text 3"/>
          <p:cNvSpPr/>
          <p:nvPr/>
        </p:nvSpPr>
        <p:spPr>
          <a:xfrm>
            <a:off x="594360" y="1627632"/>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1554480" y="1627632"/>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Create the contact center</a:t>
            </a:r>
            <a:endParaRPr lang="en-US" sz="2200" dirty="0"/>
          </a:p>
        </p:txBody>
      </p:sp>
      <p:sp>
        <p:nvSpPr>
          <p:cNvPr id="7" name="Text 5"/>
          <p:cNvSpPr/>
          <p:nvPr/>
        </p:nvSpPr>
        <p:spPr>
          <a:xfrm>
            <a:off x="1554480" y="1993392"/>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Salesforce provisions Amazon Connect.</a:t>
            </a:r>
            <a:endParaRPr lang="en-US" sz="1500" dirty="0"/>
          </a:p>
        </p:txBody>
      </p:sp>
      <p:sp>
        <p:nvSpPr>
          <p:cNvPr id="8" name="Text 6"/>
          <p:cNvSpPr/>
          <p:nvPr/>
        </p:nvSpPr>
        <p:spPr>
          <a:xfrm>
            <a:off x="594360" y="2651760"/>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02</a:t>
            </a:r>
            <a:endParaRPr lang="en-US" sz="2200" dirty="0"/>
          </a:p>
        </p:txBody>
      </p:sp>
      <p:sp>
        <p:nvSpPr>
          <p:cNvPr id="9" name="Text 7"/>
          <p:cNvSpPr/>
          <p:nvPr/>
        </p:nvSpPr>
        <p:spPr>
          <a:xfrm>
            <a:off x="1554480" y="2651760"/>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Claim one number</a:t>
            </a:r>
            <a:endParaRPr lang="en-US" sz="2200" dirty="0"/>
          </a:p>
        </p:txBody>
      </p:sp>
      <p:sp>
        <p:nvSpPr>
          <p:cNvPr id="10" name="Text 8"/>
          <p:cNvSpPr/>
          <p:nvPr/>
        </p:nvSpPr>
        <p:spPr>
          <a:xfrm>
            <a:off x="1554480" y="3017520"/>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Attach it to the sample inbound flow.</a:t>
            </a:r>
            <a:endParaRPr lang="en-US" sz="1500" dirty="0"/>
          </a:p>
        </p:txBody>
      </p:sp>
      <p:sp>
        <p:nvSpPr>
          <p:cNvPr id="11" name="Text 9"/>
          <p:cNvSpPr/>
          <p:nvPr/>
        </p:nvSpPr>
        <p:spPr>
          <a:xfrm>
            <a:off x="594360" y="3675888"/>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03</a:t>
            </a:r>
            <a:endParaRPr lang="en-US" sz="2200" dirty="0"/>
          </a:p>
        </p:txBody>
      </p:sp>
      <p:sp>
        <p:nvSpPr>
          <p:cNvPr id="12" name="Text 10"/>
          <p:cNvSpPr/>
          <p:nvPr/>
        </p:nvSpPr>
        <p:spPr>
          <a:xfrm>
            <a:off x="1554480" y="3675888"/>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One queue, one rep</a:t>
            </a:r>
            <a:endParaRPr lang="en-US" sz="2200" dirty="0"/>
          </a:p>
        </p:txBody>
      </p:sp>
      <p:sp>
        <p:nvSpPr>
          <p:cNvPr id="13" name="Text 11"/>
          <p:cNvSpPr/>
          <p:nvPr/>
        </p:nvSpPr>
        <p:spPr>
          <a:xfrm>
            <a:off x="1554480" y="4041648"/>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English only. The rep is Available.</a:t>
            </a:r>
            <a:endParaRPr lang="en-US" sz="1500" dirty="0"/>
          </a:p>
        </p:txBody>
      </p:sp>
      <p:sp>
        <p:nvSpPr>
          <p:cNvPr id="14" name="Text 12"/>
          <p:cNvSpPr/>
          <p:nvPr/>
        </p:nvSpPr>
        <p:spPr>
          <a:xfrm>
            <a:off x="594360" y="4700016"/>
            <a:ext cx="777240" cy="438912"/>
          </a:xfrm>
          <a:prstGeom prst="rect">
            <a:avLst/>
          </a:prstGeom>
          <a:noFill/>
          <a:ln/>
        </p:spPr>
        <p:txBody>
          <a:bodyPr wrap="square" lIns="0" tIns="0" rIns="0" bIns="0" rtlCol="0" anchor="ctr"/>
          <a:lstStyle/>
          <a:p>
            <a:pPr indent="0" marL="0">
              <a:buNone/>
            </a:pPr>
            <a:r>
              <a:rPr lang="en-US" sz="2200" dirty="0">
                <a:solidFill>
                  <a:srgbClr val="A86647"/>
                </a:solidFill>
                <a:latin typeface="Georgia" pitchFamily="34" charset="0"/>
                <a:ea typeface="Georgia" pitchFamily="34" charset="-122"/>
                <a:cs typeface="Georgia" pitchFamily="34" charset="-120"/>
              </a:rPr>
              <a:t>04</a:t>
            </a:r>
            <a:endParaRPr lang="en-US" sz="2200" dirty="0"/>
          </a:p>
        </p:txBody>
      </p:sp>
      <p:sp>
        <p:nvSpPr>
          <p:cNvPr id="15" name="Text 13"/>
          <p:cNvSpPr/>
          <p:nvPr/>
        </p:nvSpPr>
        <p:spPr>
          <a:xfrm>
            <a:off x="1554480" y="4700016"/>
            <a:ext cx="9875520" cy="365760"/>
          </a:xfrm>
          <a:prstGeom prst="rect">
            <a:avLst/>
          </a:prstGeom>
          <a:noFill/>
          <a:ln/>
        </p:spPr>
        <p:txBody>
          <a:bodyPr wrap="square" lIns="0" tIns="0" rIns="0" bIns="0" rtlCol="0" anchor="ctr"/>
          <a:lstStyle/>
          <a:p>
            <a:pPr indent="0" marL="0">
              <a:buNone/>
            </a:pPr>
            <a:r>
              <a:rPr lang="en-US" sz="2200" dirty="0">
                <a:solidFill>
                  <a:srgbClr val="24362C"/>
                </a:solidFill>
                <a:latin typeface="Georgia" pitchFamily="34" charset="0"/>
                <a:ea typeface="Georgia" pitchFamily="34" charset="-122"/>
                <a:cs typeface="Georgia" pitchFamily="34" charset="-120"/>
              </a:rPr>
              <a:t>Call the number</a:t>
            </a:r>
            <a:endParaRPr lang="en-US" sz="2200" dirty="0"/>
          </a:p>
        </p:txBody>
      </p:sp>
      <p:sp>
        <p:nvSpPr>
          <p:cNvPr id="16" name="Text 14"/>
          <p:cNvSpPr/>
          <p:nvPr/>
        </p:nvSpPr>
        <p:spPr>
          <a:xfrm>
            <a:off x="1554480" y="5065776"/>
            <a:ext cx="9875520" cy="310896"/>
          </a:xfrm>
          <a:prstGeom prst="rect">
            <a:avLst/>
          </a:prstGeom>
          <a:noFill/>
          <a:ln/>
        </p:spPr>
        <p:txBody>
          <a:bodyPr wrap="square" lIns="0" tIns="0" rIns="0" bIns="0" rtlCol="0" anchor="ctr"/>
          <a:lstStyle/>
          <a:p>
            <a:pPr indent="0" marL="0">
              <a:buNone/>
            </a:pPr>
            <a:r>
              <a:rPr lang="en-US" sz="1500" dirty="0">
                <a:solidFill>
                  <a:srgbClr val="5C6B60"/>
                </a:solidFill>
                <a:latin typeface="Arial" pitchFamily="34" charset="0"/>
                <a:ea typeface="Arial" pitchFamily="34" charset="-122"/>
                <a:cs typeface="Arial" pitchFamily="34" charset="-120"/>
              </a:rPr>
              <a:t>Answer it in Salesforce.</a:t>
            </a:r>
            <a:endParaRPr lang="en-US" sz="1500" dirty="0"/>
          </a:p>
        </p:txBody>
      </p:sp>
      <p:sp>
        <p:nvSpPr>
          <p:cNvPr id="17" name="Text 15"/>
          <p:cNvSpPr/>
          <p:nvPr/>
        </p:nvSpPr>
        <p:spPr>
          <a:xfrm>
            <a:off x="594360" y="6263640"/>
            <a:ext cx="10972800" cy="292608"/>
          </a:xfrm>
          <a:prstGeom prst="rect">
            <a:avLst/>
          </a:prstGeom>
          <a:noFill/>
          <a:ln/>
        </p:spPr>
        <p:txBody>
          <a:bodyPr wrap="square" lIns="0" tIns="0" rIns="0" bIns="0" rtlCol="0" anchor="ctr"/>
          <a:lstStyle/>
          <a:p>
            <a:pPr indent="0" marL="0">
              <a:buNone/>
            </a:pPr>
            <a:r>
              <a:rPr lang="en-US" sz="1400" dirty="0">
                <a:solidFill>
                  <a:srgbClr val="A86647"/>
                </a:solidFill>
                <a:latin typeface="Arial" pitchFamily="34" charset="0"/>
                <a:ea typeface="Arial" pitchFamily="34" charset="-122"/>
                <a:cs typeface="Arial" pitchFamily="34" charset="-120"/>
              </a:rPr>
              <a:t>Name the Spanish queue. Don't put anyone in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362C"/>
        </a:solidFill>
      </p:bgPr>
    </p:bg>
    <p:spTree>
      <p:nvGrpSpPr>
        <p:cNvPr id="1" name=""/>
        <p:cNvGrpSpPr/>
        <p:nvPr/>
      </p:nvGrpSpPr>
      <p:grpSpPr>
        <a:xfrm>
          <a:off x="0" y="0"/>
          <a:ext cx="0" cy="0"/>
          <a:chOff x="0" y="0"/>
          <a:chExt cx="0" cy="0"/>
        </a:xfrm>
      </p:grpSpPr>
      <p:sp>
        <p:nvSpPr>
          <p:cNvPr id="2" name="Text 0"/>
          <p:cNvSpPr/>
          <p:nvPr/>
        </p:nvSpPr>
        <p:spPr>
          <a:xfrm>
            <a:off x="640080" y="1325880"/>
            <a:ext cx="10789920" cy="310896"/>
          </a:xfrm>
          <a:prstGeom prst="rect">
            <a:avLst/>
          </a:prstGeom>
          <a:noFill/>
          <a:ln/>
        </p:spPr>
        <p:txBody>
          <a:bodyPr wrap="square" lIns="0" tIns="0" rIns="0" bIns="0" rtlCol="0" anchor="ctr"/>
          <a:lstStyle/>
          <a:p>
            <a:pPr indent="0" marL="0">
              <a:buNone/>
            </a:pPr>
            <a:r>
              <a:rPr lang="en-US" sz="1300" spc="180" kern="0" dirty="0">
                <a:solidFill>
                  <a:srgbClr val="E4D5C8"/>
                </a:solidFill>
                <a:latin typeface="Arial" pitchFamily="34" charset="0"/>
                <a:ea typeface="Arial" pitchFamily="34" charset="-122"/>
                <a:cs typeface="Arial" pitchFamily="34" charset="-120"/>
              </a:rPr>
              <a:t>DONE WHEN</a:t>
            </a:r>
            <a:endParaRPr lang="en-US" sz="1300" dirty="0"/>
          </a:p>
        </p:txBody>
      </p:sp>
      <p:sp>
        <p:nvSpPr>
          <p:cNvPr id="3" name="Text 1"/>
          <p:cNvSpPr/>
          <p:nvPr/>
        </p:nvSpPr>
        <p:spPr>
          <a:xfrm>
            <a:off x="640080" y="1828800"/>
            <a:ext cx="10789920" cy="1234440"/>
          </a:xfrm>
          <a:prstGeom prst="rect">
            <a:avLst/>
          </a:prstGeom>
          <a:noFill/>
          <a:ln/>
        </p:spPr>
        <p:txBody>
          <a:bodyPr wrap="square" lIns="0" tIns="0" rIns="0" bIns="0" rtlCol="0" anchor="ctr"/>
          <a:lstStyle/>
          <a:p>
            <a:pPr indent="0" marL="0">
              <a:buNone/>
            </a:pPr>
            <a:r>
              <a:rPr lang="en-US" sz="4800" dirty="0">
                <a:solidFill>
                  <a:srgbClr val="F3EEE4"/>
                </a:solidFill>
                <a:latin typeface="Georgia" pitchFamily="34" charset="0"/>
                <a:ea typeface="Georgia" pitchFamily="34" charset="-122"/>
                <a:cs typeface="Georgia" pitchFamily="34" charset="-120"/>
              </a:rPr>
              <a:t>You hear it ring.</a:t>
            </a:r>
            <a:endParaRPr lang="en-US" sz="4800" dirty="0"/>
          </a:p>
        </p:txBody>
      </p:sp>
      <p:sp>
        <p:nvSpPr>
          <p:cNvPr id="4" name="Text 2"/>
          <p:cNvSpPr/>
          <p:nvPr/>
        </p:nvSpPr>
        <p:spPr>
          <a:xfrm>
            <a:off x="640080" y="3246120"/>
            <a:ext cx="9601200" cy="960120"/>
          </a:xfrm>
          <a:prstGeom prst="rect">
            <a:avLst/>
          </a:prstGeom>
          <a:noFill/>
          <a:ln/>
        </p:spPr>
        <p:txBody>
          <a:bodyPr wrap="square" lIns="0" tIns="0" rIns="0" bIns="0" rtlCol="0" anchor="ctr"/>
          <a:lstStyle/>
          <a:p>
            <a:pPr indent="0" marL="0">
              <a:buNone/>
            </a:pPr>
            <a:r>
              <a:rPr lang="en-US" sz="2000" dirty="0">
                <a:solidFill>
                  <a:srgbClr val="E4D5C8"/>
                </a:solidFill>
                <a:latin typeface="Arial" pitchFamily="34" charset="0"/>
                <a:ea typeface="Arial" pitchFamily="34" charset="-122"/>
                <a:cs typeface="Arial" pitchFamily="34" charset="-120"/>
              </a:rPr>
              <a:t>I answer the call in Salesforce. Then we stop.</a:t>
            </a:r>
            <a:endParaRPr lang="en-US" sz="2000" dirty="0"/>
          </a:p>
        </p:txBody>
      </p:sp>
      <p:sp>
        <p:nvSpPr>
          <p:cNvPr id="5" name="Text 3"/>
          <p:cNvSpPr/>
          <p:nvPr/>
        </p:nvSpPr>
        <p:spPr>
          <a:xfrm>
            <a:off x="640080" y="5212080"/>
            <a:ext cx="10515600" cy="411480"/>
          </a:xfrm>
          <a:prstGeom prst="rect">
            <a:avLst/>
          </a:prstGeom>
          <a:noFill/>
          <a:ln/>
        </p:spPr>
        <p:txBody>
          <a:bodyPr wrap="square" lIns="0" tIns="0" rIns="0" bIns="0" rtlCol="0" anchor="ctr"/>
          <a:lstStyle/>
          <a:p>
            <a:pPr indent="0" marL="0">
              <a:buNone/>
            </a:pPr>
            <a:r>
              <a:rPr lang="en-US" sz="1600" dirty="0">
                <a:solidFill>
                  <a:srgbClr val="F3EEE4"/>
                </a:solidFill>
                <a:latin typeface="Arial" pitchFamily="34" charset="0"/>
                <a:ea typeface="Arial" pitchFamily="34" charset="-122"/>
                <a:cs typeface="Arial" pitchFamily="34" charset="-120"/>
              </a:rPr>
              <a:t>Next session — the same number rings the agent first.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 Cairn Outdoor Co.</dc:title>
  <dc:subject>Code with Sally — Agentforce Voice</dc:subject>
  <dc:creator>Daniel Gonzalez</dc:creator>
  <cp:lastModifiedBy>Daniel Gonzalez</cp:lastModifiedBy>
  <cp:revision>1</cp:revision>
  <dcterms:created xsi:type="dcterms:W3CDTF">2026-09-25T20:38:32Z</dcterms:created>
  <dcterms:modified xsi:type="dcterms:W3CDTF">2026-09-25T20:38:32Z</dcterms:modified>
</cp:coreProperties>
</file>