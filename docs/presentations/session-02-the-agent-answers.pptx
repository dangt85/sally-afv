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calling the number from last session so people remember a human answers. Today we put an agent in front of that, and we keep the human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numbers. Customers still dial the Connect number. The agent has its own number, and the contact flow transfers to it. When that leg ends, the flow continues into the queue. That continuation is not the same thing as the agent choosing to escalate.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agent dumb on purpose. If the transfer works with time left, add the case fallback: no rep available, a case gets created. If the transfer doesn't work yet, spend the time on the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line: call, talk to the agent, say you want a person, land on the rep. Stop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EE4"/>
        </a:solidFill>
      </p:bgPr>
    </p:bg>
    <p:spTree>
      <p:nvGrpSpPr>
        <p:cNvPr id="1" name=""/>
        <p:cNvGrpSpPr/>
        <p:nvPr/>
      </p:nvGrpSpPr>
      <p:grpSpPr>
        <a:xfrm>
          <a:off x="0" y="0"/>
          <a:ext cx="0" cy="0"/>
          <a:chOff x="0" y="0"/>
          <a:chExt cx="0" cy="0"/>
        </a:xfrm>
      </p:grpSpPr>
      <p:sp>
        <p:nvSpPr>
          <p:cNvPr id="2" name="Text 0"/>
          <p:cNvSpPr/>
          <p:nvPr/>
        </p:nvSpPr>
        <p:spPr>
          <a:xfrm>
            <a:off x="594360" y="347472"/>
            <a:ext cx="5669280" cy="292608"/>
          </a:xfrm>
          <a:prstGeom prst="rect">
            <a:avLst/>
          </a:prstGeom>
          <a:noFill/>
          <a:ln/>
        </p:spPr>
        <p:txBody>
          <a:bodyPr wrap="square" lIns="0" tIns="0" rIns="0" bIns="0" rtlCol="0" anchor="ctr"/>
          <a:lstStyle/>
          <a:p>
            <a:pPr indent="0" marL="0">
              <a:buNone/>
            </a:pPr>
            <a:r>
              <a:rPr lang="en-US" sz="1200" spc="160" kern="0" dirty="0">
                <a:solidFill>
                  <a:srgbClr val="A86647"/>
                </a:solidFill>
                <a:latin typeface="Arial" pitchFamily="34" charset="0"/>
                <a:ea typeface="Arial" pitchFamily="34" charset="-122"/>
                <a:cs typeface="Arial" pitchFamily="34" charset="-120"/>
              </a:rPr>
              <a:t>CODE WITH SALLY</a:t>
            </a:r>
            <a:endParaRPr lang="en-US" sz="1200" dirty="0"/>
          </a:p>
        </p:txBody>
      </p:sp>
      <p:sp>
        <p:nvSpPr>
          <p:cNvPr id="3" name="Text 1"/>
          <p:cNvSpPr/>
          <p:nvPr/>
        </p:nvSpPr>
        <p:spPr>
          <a:xfrm>
            <a:off x="6675120" y="347472"/>
            <a:ext cx="4919472" cy="292608"/>
          </a:xfrm>
          <a:prstGeom prst="rect">
            <a:avLst/>
          </a:prstGeom>
          <a:noFill/>
          <a:ln/>
        </p:spPr>
        <p:txBody>
          <a:bodyPr wrap="square" lIns="0" tIns="0" rIns="0" bIns="0" rtlCol="0" anchor="ctr"/>
          <a:lstStyle/>
          <a:p>
            <a:pPr algn="r" indent="0" marL="0">
              <a:buNone/>
            </a:pPr>
            <a:r>
              <a:rPr lang="en-US" sz="1200" spc="140" kern="0" dirty="0">
                <a:solidFill>
                  <a:srgbClr val="5C6B60"/>
                </a:solidFill>
                <a:latin typeface="Arial" pitchFamily="34" charset="0"/>
                <a:ea typeface="Arial" pitchFamily="34" charset="-122"/>
                <a:cs typeface="Arial" pitchFamily="34" charset="-120"/>
              </a:rPr>
              <a:t>SESSION 2  OF  5</a:t>
            </a:r>
            <a:endParaRPr lang="en-US" sz="1200" dirty="0"/>
          </a:p>
        </p:txBody>
      </p:sp>
      <p:sp>
        <p:nvSpPr>
          <p:cNvPr id="4" name="Text 2"/>
          <p:cNvSpPr/>
          <p:nvPr/>
        </p:nvSpPr>
        <p:spPr>
          <a:xfrm>
            <a:off x="594360" y="1691640"/>
            <a:ext cx="10972800" cy="2468880"/>
          </a:xfrm>
          <a:prstGeom prst="rect">
            <a:avLst/>
          </a:prstGeom>
          <a:noFill/>
          <a:ln/>
        </p:spPr>
        <p:txBody>
          <a:bodyPr wrap="square" lIns="0" tIns="0" rIns="0" bIns="0" rtlCol="0" anchor="t"/>
          <a:lstStyle/>
          <a:p>
            <a:pPr indent="0" marL="0">
              <a:buNone/>
            </a:pPr>
            <a:r>
              <a:rPr lang="en-US" sz="6000" dirty="0">
                <a:solidFill>
                  <a:srgbClr val="24362C"/>
                </a:solidFill>
                <a:latin typeface="Georgia" pitchFamily="34" charset="0"/>
                <a:ea typeface="Georgia" pitchFamily="34" charset="-122"/>
                <a:cs typeface="Georgia" pitchFamily="34" charset="-120"/>
              </a:rPr>
              <a:t>The agent answers.</a:t>
            </a:r>
            <a:endParaRPr lang="en-US" sz="6000" dirty="0"/>
          </a:p>
          <a:p>
            <a:pPr indent="0" marL="0">
              <a:buNone/>
            </a:pPr>
            <a:r>
              <a:rPr lang="en-US" sz="6000" dirty="0">
                <a:solidFill>
                  <a:srgbClr val="24362C"/>
                </a:solidFill>
                <a:latin typeface="Georgia" pitchFamily="34" charset="0"/>
                <a:ea typeface="Georgia" pitchFamily="34" charset="-122"/>
                <a:cs typeface="Georgia" pitchFamily="34" charset="-120"/>
              </a:rPr>
              <a:t>Then a person does.</a:t>
            </a:r>
            <a:endParaRPr lang="en-US" sz="6000" dirty="0"/>
          </a:p>
        </p:txBody>
      </p:sp>
      <p:sp>
        <p:nvSpPr>
          <p:cNvPr id="5" name="Text 3"/>
          <p:cNvSpPr/>
          <p:nvPr/>
        </p:nvSpPr>
        <p:spPr>
          <a:xfrm>
            <a:off x="594360" y="4709160"/>
            <a:ext cx="9692640" cy="1051560"/>
          </a:xfrm>
          <a:prstGeom prst="rect">
            <a:avLst/>
          </a:prstGeom>
          <a:noFill/>
          <a:ln/>
        </p:spPr>
        <p:txBody>
          <a:bodyPr wrap="square" lIns="0" tIns="0" rIns="0" bIns="0" rtlCol="0" anchor="ctr"/>
          <a:lstStyle/>
          <a:p>
            <a:pPr indent="0" marL="0">
              <a:buNone/>
            </a:pPr>
            <a:r>
              <a:rPr lang="en-US" sz="2000" dirty="0">
                <a:solidFill>
                  <a:srgbClr val="3E5144"/>
                </a:solidFill>
                <a:latin typeface="Arial" pitchFamily="34" charset="0"/>
                <a:ea typeface="Arial" pitchFamily="34" charset="-122"/>
                <a:cs typeface="Arial" pitchFamily="34" charset="-120"/>
              </a:rPr>
              <a:t>The same number rings the agent first. Asking for a person comes back to last session's queue.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4"/>
        </a:solidFill>
      </p:bgPr>
    </p:bg>
    <p:spTree>
      <p:nvGrpSpPr>
        <p:cNvPr id="1" name=""/>
        <p:cNvGrpSpPr/>
        <p:nvPr/>
      </p:nvGrpSpPr>
      <p:grpSpPr>
        <a:xfrm>
          <a:off x="0" y="0"/>
          <a:ext cx="0" cy="0"/>
          <a:chOff x="0" y="0"/>
          <a:chExt cx="0" cy="0"/>
        </a:xfrm>
      </p:grpSpPr>
      <p:sp>
        <p:nvSpPr>
          <p:cNvPr id="2" name="Text 0"/>
          <p:cNvSpPr/>
          <p:nvPr/>
        </p:nvSpPr>
        <p:spPr>
          <a:xfrm>
            <a:off x="594360" y="347472"/>
            <a:ext cx="5669280" cy="292608"/>
          </a:xfrm>
          <a:prstGeom prst="rect">
            <a:avLst/>
          </a:prstGeom>
          <a:noFill/>
          <a:ln/>
        </p:spPr>
        <p:txBody>
          <a:bodyPr wrap="square" lIns="0" tIns="0" rIns="0" bIns="0" rtlCol="0" anchor="ctr"/>
          <a:lstStyle/>
          <a:p>
            <a:pPr indent="0" marL="0">
              <a:buNone/>
            </a:pPr>
            <a:r>
              <a:rPr lang="en-US" sz="1200" spc="160" kern="0" dirty="0">
                <a:solidFill>
                  <a:srgbClr val="A86647"/>
                </a:solidFill>
                <a:latin typeface="Arial" pitchFamily="34" charset="0"/>
                <a:ea typeface="Arial" pitchFamily="34" charset="-122"/>
                <a:cs typeface="Arial" pitchFamily="34" charset="-120"/>
              </a:rPr>
              <a:t>CAIRN OUTDOOR CO.</a:t>
            </a:r>
            <a:endParaRPr lang="en-US" sz="1200" dirty="0"/>
          </a:p>
        </p:txBody>
      </p:sp>
      <p:sp>
        <p:nvSpPr>
          <p:cNvPr id="3" name="Text 1"/>
          <p:cNvSpPr/>
          <p:nvPr/>
        </p:nvSpPr>
        <p:spPr>
          <a:xfrm>
            <a:off x="6675120" y="347472"/>
            <a:ext cx="4919472" cy="292608"/>
          </a:xfrm>
          <a:prstGeom prst="rect">
            <a:avLst/>
          </a:prstGeom>
          <a:noFill/>
          <a:ln/>
        </p:spPr>
        <p:txBody>
          <a:bodyPr wrap="square" lIns="0" tIns="0" rIns="0" bIns="0" rtlCol="0" anchor="ctr"/>
          <a:lstStyle/>
          <a:p>
            <a:pPr algn="r" indent="0" marL="0">
              <a:buNone/>
            </a:pPr>
            <a:r>
              <a:rPr lang="en-US" sz="1200" spc="140" kern="0" dirty="0">
                <a:solidFill>
                  <a:srgbClr val="5C6B60"/>
                </a:solidFill>
                <a:latin typeface="Arial" pitchFamily="34" charset="0"/>
                <a:ea typeface="Arial" pitchFamily="34" charset="-122"/>
                <a:cs typeface="Arial" pitchFamily="34" charset="-120"/>
              </a:rPr>
              <a:t>SESSION 2</a:t>
            </a:r>
            <a:endParaRPr lang="en-US" sz="1200" dirty="0"/>
          </a:p>
        </p:txBody>
      </p:sp>
      <p:sp>
        <p:nvSpPr>
          <p:cNvPr id="4" name="Text 2"/>
          <p:cNvSpPr/>
          <p:nvPr/>
        </p:nvSpPr>
        <p:spPr>
          <a:xfrm>
            <a:off x="594360" y="822960"/>
            <a:ext cx="10972800" cy="640080"/>
          </a:xfrm>
          <a:prstGeom prst="rect">
            <a:avLst/>
          </a:prstGeom>
          <a:noFill/>
          <a:ln/>
        </p:spPr>
        <p:txBody>
          <a:bodyPr wrap="square" lIns="0" tIns="0" rIns="0" bIns="0" rtlCol="0" anchor="ctr"/>
          <a:lstStyle/>
          <a:p>
            <a:pPr indent="0" marL="0">
              <a:buNone/>
            </a:pPr>
            <a:r>
              <a:rPr lang="en-US" sz="3200" dirty="0">
                <a:solidFill>
                  <a:srgbClr val="24362C"/>
                </a:solidFill>
                <a:latin typeface="Georgia" pitchFamily="34" charset="0"/>
                <a:ea typeface="Georgia" pitchFamily="34" charset="-122"/>
                <a:cs typeface="Georgia" pitchFamily="34" charset="-120"/>
              </a:rPr>
              <a:t>One new piece, in front of the phone you already have.</a:t>
            </a:r>
            <a:endParaRPr lang="en-US" sz="3200" dirty="0"/>
          </a:p>
        </p:txBody>
      </p:sp>
      <p:sp>
        <p:nvSpPr>
          <p:cNvPr id="5" name="Shape 3"/>
          <p:cNvSpPr/>
          <p:nvPr/>
        </p:nvSpPr>
        <p:spPr>
          <a:xfrm>
            <a:off x="594360" y="1828800"/>
            <a:ext cx="3474720" cy="4297680"/>
          </a:xfrm>
          <a:prstGeom prst="rect">
            <a:avLst/>
          </a:prstGeom>
          <a:solidFill>
            <a:srgbClr val="24362C"/>
          </a:solidFill>
          <a:ln/>
        </p:spPr>
      </p:sp>
      <p:sp>
        <p:nvSpPr>
          <p:cNvPr id="6" name="Text 4"/>
          <p:cNvSpPr/>
          <p:nvPr/>
        </p:nvSpPr>
        <p:spPr>
          <a:xfrm>
            <a:off x="886968" y="2157984"/>
            <a:ext cx="2889504" cy="292608"/>
          </a:xfrm>
          <a:prstGeom prst="rect">
            <a:avLst/>
          </a:prstGeom>
          <a:noFill/>
          <a:ln/>
        </p:spPr>
        <p:txBody>
          <a:bodyPr wrap="square" lIns="0" tIns="0" rIns="0" bIns="0" rtlCol="0" anchor="ctr"/>
          <a:lstStyle/>
          <a:p>
            <a:pPr indent="0" marL="0">
              <a:buNone/>
            </a:pPr>
            <a:r>
              <a:rPr lang="en-US" sz="1300" spc="140" kern="0" dirty="0">
                <a:solidFill>
                  <a:srgbClr val="E4D5C8"/>
                </a:solidFill>
                <a:latin typeface="Arial" pitchFamily="34" charset="0"/>
                <a:ea typeface="Arial" pitchFamily="34" charset="-122"/>
                <a:cs typeface="Arial" pitchFamily="34" charset="-120"/>
              </a:rPr>
              <a:t>NEW</a:t>
            </a:r>
            <a:endParaRPr lang="en-US" sz="1300" dirty="0"/>
          </a:p>
        </p:txBody>
      </p:sp>
      <p:sp>
        <p:nvSpPr>
          <p:cNvPr id="7" name="Text 5"/>
          <p:cNvSpPr/>
          <p:nvPr/>
        </p:nvSpPr>
        <p:spPr>
          <a:xfrm>
            <a:off x="886968" y="2880360"/>
            <a:ext cx="2889504" cy="1234440"/>
          </a:xfrm>
          <a:prstGeom prst="rect">
            <a:avLst/>
          </a:prstGeom>
          <a:noFill/>
          <a:ln/>
        </p:spPr>
        <p:txBody>
          <a:bodyPr wrap="square" lIns="0" tIns="0" rIns="0" bIns="0" rtlCol="0" anchor="ctr"/>
          <a:lstStyle/>
          <a:p>
            <a:pPr indent="0" marL="0">
              <a:buNone/>
            </a:pPr>
            <a:r>
              <a:rPr lang="en-US" sz="2600" dirty="0">
                <a:solidFill>
                  <a:srgbClr val="F3EEE4"/>
                </a:solidFill>
                <a:latin typeface="Georgia" pitchFamily="34" charset="0"/>
                <a:ea typeface="Georgia" pitchFamily="34" charset="-122"/>
                <a:cs typeface="Georgia" pitchFamily="34" charset="-120"/>
              </a:rPr>
              <a:t>The agent</a:t>
            </a:r>
            <a:endParaRPr lang="en-US" sz="2600" dirty="0"/>
          </a:p>
        </p:txBody>
      </p:sp>
      <p:sp>
        <p:nvSpPr>
          <p:cNvPr id="8" name="Text 6"/>
          <p:cNvSpPr/>
          <p:nvPr/>
        </p:nvSpPr>
        <p:spPr>
          <a:xfrm>
            <a:off x="886968" y="4297680"/>
            <a:ext cx="2889504" cy="1417320"/>
          </a:xfrm>
          <a:prstGeom prst="rect">
            <a:avLst/>
          </a:prstGeom>
          <a:noFill/>
          <a:ln/>
        </p:spPr>
        <p:txBody>
          <a:bodyPr wrap="square" lIns="0" tIns="0" rIns="0" bIns="0" rtlCol="0" anchor="ctr"/>
          <a:lstStyle/>
          <a:p>
            <a:pPr indent="0" marL="0">
              <a:buNone/>
            </a:pPr>
            <a:r>
              <a:rPr lang="en-US" sz="1600" dirty="0">
                <a:solidFill>
                  <a:srgbClr val="E4D5C8"/>
                </a:solidFill>
                <a:latin typeface="Arial" pitchFamily="34" charset="0"/>
                <a:ea typeface="Arial" pitchFamily="34" charset="-122"/>
                <a:cs typeface="Arial" pitchFamily="34" charset="-120"/>
              </a:rPr>
              <a:t>It can greet, and it can hand the call to a person. Nothing else.</a:t>
            </a:r>
            <a:endParaRPr lang="en-US" sz="1600" dirty="0"/>
          </a:p>
        </p:txBody>
      </p:sp>
      <p:sp>
        <p:nvSpPr>
          <p:cNvPr id="9" name="Shape 7"/>
          <p:cNvSpPr/>
          <p:nvPr/>
        </p:nvSpPr>
        <p:spPr>
          <a:xfrm>
            <a:off x="4325112" y="1828800"/>
            <a:ext cx="3474720" cy="4297680"/>
          </a:xfrm>
          <a:prstGeom prst="rect">
            <a:avLst/>
          </a:prstGeom>
          <a:solidFill>
            <a:srgbClr val="24362C"/>
          </a:solidFill>
          <a:ln/>
        </p:spPr>
      </p:sp>
      <p:sp>
        <p:nvSpPr>
          <p:cNvPr id="10" name="Text 8"/>
          <p:cNvSpPr/>
          <p:nvPr/>
        </p:nvSpPr>
        <p:spPr>
          <a:xfrm>
            <a:off x="4617720" y="2157984"/>
            <a:ext cx="2889504" cy="292608"/>
          </a:xfrm>
          <a:prstGeom prst="rect">
            <a:avLst/>
          </a:prstGeom>
          <a:noFill/>
          <a:ln/>
        </p:spPr>
        <p:txBody>
          <a:bodyPr wrap="square" lIns="0" tIns="0" rIns="0" bIns="0" rtlCol="0" anchor="ctr"/>
          <a:lstStyle/>
          <a:p>
            <a:pPr indent="0" marL="0">
              <a:buNone/>
            </a:pPr>
            <a:r>
              <a:rPr lang="en-US" sz="1300" spc="140" kern="0" dirty="0">
                <a:solidFill>
                  <a:srgbClr val="E4D5C8"/>
                </a:solidFill>
                <a:latin typeface="Arial" pitchFamily="34" charset="0"/>
                <a:ea typeface="Arial" pitchFamily="34" charset="-122"/>
                <a:cs typeface="Arial" pitchFamily="34" charset="-120"/>
              </a:rPr>
              <a:t>EDIT</a:t>
            </a:r>
            <a:endParaRPr lang="en-US" sz="1300" dirty="0"/>
          </a:p>
        </p:txBody>
      </p:sp>
      <p:sp>
        <p:nvSpPr>
          <p:cNvPr id="11" name="Text 9"/>
          <p:cNvSpPr/>
          <p:nvPr/>
        </p:nvSpPr>
        <p:spPr>
          <a:xfrm>
            <a:off x="4617720" y="2880360"/>
            <a:ext cx="2889504" cy="1234440"/>
          </a:xfrm>
          <a:prstGeom prst="rect">
            <a:avLst/>
          </a:prstGeom>
          <a:noFill/>
          <a:ln/>
        </p:spPr>
        <p:txBody>
          <a:bodyPr wrap="square" lIns="0" tIns="0" rIns="0" bIns="0" rtlCol="0" anchor="ctr"/>
          <a:lstStyle/>
          <a:p>
            <a:pPr indent="0" marL="0">
              <a:buNone/>
            </a:pPr>
            <a:r>
              <a:rPr lang="en-US" sz="2600" dirty="0">
                <a:solidFill>
                  <a:srgbClr val="F3EEE4"/>
                </a:solidFill>
                <a:latin typeface="Georgia" pitchFamily="34" charset="0"/>
                <a:ea typeface="Georgia" pitchFamily="34" charset="-122"/>
                <a:cs typeface="Georgia" pitchFamily="34" charset="-120"/>
              </a:rPr>
              <a:t>The contact flow</a:t>
            </a:r>
            <a:endParaRPr lang="en-US" sz="2600" dirty="0"/>
          </a:p>
        </p:txBody>
      </p:sp>
      <p:sp>
        <p:nvSpPr>
          <p:cNvPr id="12" name="Text 10"/>
          <p:cNvSpPr/>
          <p:nvPr/>
        </p:nvSpPr>
        <p:spPr>
          <a:xfrm>
            <a:off x="4617720" y="4297680"/>
            <a:ext cx="2889504" cy="1417320"/>
          </a:xfrm>
          <a:prstGeom prst="rect">
            <a:avLst/>
          </a:prstGeom>
          <a:noFill/>
          <a:ln/>
        </p:spPr>
        <p:txBody>
          <a:bodyPr wrap="square" lIns="0" tIns="0" rIns="0" bIns="0" rtlCol="0" anchor="ctr"/>
          <a:lstStyle/>
          <a:p>
            <a:pPr indent="0" marL="0">
              <a:buNone/>
            </a:pPr>
            <a:r>
              <a:rPr lang="en-US" sz="1600" dirty="0">
                <a:solidFill>
                  <a:srgbClr val="E4D5C8"/>
                </a:solidFill>
                <a:latin typeface="Arial" pitchFamily="34" charset="0"/>
                <a:ea typeface="Arial" pitchFamily="34" charset="-122"/>
                <a:cs typeface="Arial" pitchFamily="34" charset="-120"/>
              </a:rPr>
              <a:t>The public number rings the agent before it rings the queue.</a:t>
            </a:r>
            <a:endParaRPr lang="en-US" sz="1600" dirty="0"/>
          </a:p>
        </p:txBody>
      </p:sp>
      <p:sp>
        <p:nvSpPr>
          <p:cNvPr id="13" name="Shape 11"/>
          <p:cNvSpPr/>
          <p:nvPr/>
        </p:nvSpPr>
        <p:spPr>
          <a:xfrm>
            <a:off x="8055864" y="1828800"/>
            <a:ext cx="3474720" cy="4297680"/>
          </a:xfrm>
          <a:prstGeom prst="rect">
            <a:avLst/>
          </a:prstGeom>
          <a:solidFill>
            <a:srgbClr val="F7F3EB"/>
          </a:solidFill>
          <a:ln w="15875">
            <a:solidFill>
              <a:srgbClr val="D9CDB8"/>
            </a:solidFill>
            <a:prstDash val="solid"/>
          </a:ln>
        </p:spPr>
      </p:sp>
      <p:sp>
        <p:nvSpPr>
          <p:cNvPr id="14" name="Text 12"/>
          <p:cNvSpPr/>
          <p:nvPr/>
        </p:nvSpPr>
        <p:spPr>
          <a:xfrm>
            <a:off x="8348472" y="2157984"/>
            <a:ext cx="2889504" cy="292608"/>
          </a:xfrm>
          <a:prstGeom prst="rect">
            <a:avLst/>
          </a:prstGeom>
          <a:noFill/>
          <a:ln/>
        </p:spPr>
        <p:txBody>
          <a:bodyPr wrap="square" lIns="0" tIns="0" rIns="0" bIns="0" rtlCol="0" anchor="ctr"/>
          <a:lstStyle/>
          <a:p>
            <a:pPr indent="0" marL="0">
              <a:buNone/>
            </a:pPr>
            <a:r>
              <a:rPr lang="en-US" sz="1300" spc="140" kern="0" dirty="0">
                <a:solidFill>
                  <a:srgbClr val="A86647"/>
                </a:solidFill>
                <a:latin typeface="Arial" pitchFamily="34" charset="0"/>
                <a:ea typeface="Arial" pitchFamily="34" charset="-122"/>
                <a:cs typeface="Arial" pitchFamily="34" charset="-120"/>
              </a:rPr>
              <a:t>SAME</a:t>
            </a:r>
            <a:endParaRPr lang="en-US" sz="1300" dirty="0"/>
          </a:p>
        </p:txBody>
      </p:sp>
      <p:sp>
        <p:nvSpPr>
          <p:cNvPr id="15" name="Text 13"/>
          <p:cNvSpPr/>
          <p:nvPr/>
        </p:nvSpPr>
        <p:spPr>
          <a:xfrm>
            <a:off x="8348472" y="2880360"/>
            <a:ext cx="2889504" cy="1234440"/>
          </a:xfrm>
          <a:prstGeom prst="rect">
            <a:avLst/>
          </a:prstGeom>
          <a:noFill/>
          <a:ln/>
        </p:spPr>
        <p:txBody>
          <a:bodyPr wrap="square" lIns="0" tIns="0" rIns="0" bIns="0" rtlCol="0" anchor="ctr"/>
          <a:lstStyle/>
          <a:p>
            <a:pPr indent="0" marL="0">
              <a:buNone/>
            </a:pPr>
            <a:r>
              <a:rPr lang="en-US" sz="2600" dirty="0">
                <a:solidFill>
                  <a:srgbClr val="24362C"/>
                </a:solidFill>
                <a:latin typeface="Georgia" pitchFamily="34" charset="0"/>
                <a:ea typeface="Georgia" pitchFamily="34" charset="-122"/>
                <a:cs typeface="Georgia" pitchFamily="34" charset="-120"/>
              </a:rPr>
              <a:t>The queue</a:t>
            </a:r>
            <a:endParaRPr lang="en-US" sz="2600" dirty="0"/>
          </a:p>
        </p:txBody>
      </p:sp>
      <p:sp>
        <p:nvSpPr>
          <p:cNvPr id="16" name="Text 14"/>
          <p:cNvSpPr/>
          <p:nvPr/>
        </p:nvSpPr>
        <p:spPr>
          <a:xfrm>
            <a:off x="8348472" y="4297680"/>
            <a:ext cx="2889504" cy="1417320"/>
          </a:xfrm>
          <a:prstGeom prst="rect">
            <a:avLst/>
          </a:prstGeom>
          <a:noFill/>
          <a:ln/>
        </p:spPr>
        <p:txBody>
          <a:bodyPr wrap="square" lIns="0" tIns="0" rIns="0" bIns="0" rtlCol="0" anchor="ctr"/>
          <a:lstStyle/>
          <a:p>
            <a:pPr indent="0" marL="0">
              <a:buNone/>
            </a:pPr>
            <a:r>
              <a:rPr lang="en-US" sz="1600" dirty="0">
                <a:solidFill>
                  <a:srgbClr val="3E5144"/>
                </a:solidFill>
                <a:latin typeface="Arial" pitchFamily="34" charset="0"/>
                <a:ea typeface="Arial" pitchFamily="34" charset="-122"/>
                <a:cs typeface="Arial" pitchFamily="34" charset="-120"/>
              </a:rPr>
              <a:t>Last session's rep is still the person who picks up.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EE4"/>
        </a:solidFill>
      </p:bgPr>
    </p:bg>
    <p:spTree>
      <p:nvGrpSpPr>
        <p:cNvPr id="1" name=""/>
        <p:cNvGrpSpPr/>
        <p:nvPr/>
      </p:nvGrpSpPr>
      <p:grpSpPr>
        <a:xfrm>
          <a:off x="0" y="0"/>
          <a:ext cx="0" cy="0"/>
          <a:chOff x="0" y="0"/>
          <a:chExt cx="0" cy="0"/>
        </a:xfrm>
      </p:grpSpPr>
      <p:sp>
        <p:nvSpPr>
          <p:cNvPr id="2" name="Text 0"/>
          <p:cNvSpPr/>
          <p:nvPr/>
        </p:nvSpPr>
        <p:spPr>
          <a:xfrm>
            <a:off x="594360" y="347472"/>
            <a:ext cx="5669280" cy="292608"/>
          </a:xfrm>
          <a:prstGeom prst="rect">
            <a:avLst/>
          </a:prstGeom>
          <a:noFill/>
          <a:ln/>
        </p:spPr>
        <p:txBody>
          <a:bodyPr wrap="square" lIns="0" tIns="0" rIns="0" bIns="0" rtlCol="0" anchor="ctr"/>
          <a:lstStyle/>
          <a:p>
            <a:pPr indent="0" marL="0">
              <a:buNone/>
            </a:pPr>
            <a:r>
              <a:rPr lang="en-US" sz="1200" spc="160" kern="0" dirty="0">
                <a:solidFill>
                  <a:srgbClr val="A86647"/>
                </a:solidFill>
                <a:latin typeface="Arial" pitchFamily="34" charset="0"/>
                <a:ea typeface="Arial" pitchFamily="34" charset="-122"/>
                <a:cs typeface="Arial" pitchFamily="34" charset="-120"/>
              </a:rPr>
              <a:t>ON SCREEN</a:t>
            </a:r>
            <a:endParaRPr lang="en-US" sz="1200" dirty="0"/>
          </a:p>
        </p:txBody>
      </p:sp>
      <p:sp>
        <p:nvSpPr>
          <p:cNvPr id="3" name="Text 1"/>
          <p:cNvSpPr/>
          <p:nvPr/>
        </p:nvSpPr>
        <p:spPr>
          <a:xfrm>
            <a:off x="6675120" y="347472"/>
            <a:ext cx="4919472" cy="292608"/>
          </a:xfrm>
          <a:prstGeom prst="rect">
            <a:avLst/>
          </a:prstGeom>
          <a:noFill/>
          <a:ln/>
        </p:spPr>
        <p:txBody>
          <a:bodyPr wrap="square" lIns="0" tIns="0" rIns="0" bIns="0" rtlCol="0" anchor="ctr"/>
          <a:lstStyle/>
          <a:p>
            <a:pPr algn="r" indent="0" marL="0">
              <a:buNone/>
            </a:pPr>
            <a:r>
              <a:rPr lang="en-US" sz="1200" spc="140" kern="0" dirty="0">
                <a:solidFill>
                  <a:srgbClr val="5C6B60"/>
                </a:solidFill>
                <a:latin typeface="Arial" pitchFamily="34" charset="0"/>
                <a:ea typeface="Arial" pitchFamily="34" charset="-122"/>
                <a:cs typeface="Arial" pitchFamily="34" charset="-120"/>
              </a:rPr>
              <a:t>SESSION 2</a:t>
            </a:r>
            <a:endParaRPr lang="en-US" sz="1200" dirty="0"/>
          </a:p>
        </p:txBody>
      </p:sp>
      <p:sp>
        <p:nvSpPr>
          <p:cNvPr id="4" name="Text 2"/>
          <p:cNvSpPr/>
          <p:nvPr/>
        </p:nvSpPr>
        <p:spPr>
          <a:xfrm>
            <a:off x="594360" y="786384"/>
            <a:ext cx="10972800" cy="566928"/>
          </a:xfrm>
          <a:prstGeom prst="rect">
            <a:avLst/>
          </a:prstGeom>
          <a:noFill/>
          <a:ln/>
        </p:spPr>
        <p:txBody>
          <a:bodyPr wrap="square" lIns="0" tIns="0" rIns="0" bIns="0" rtlCol="0" anchor="ctr"/>
          <a:lstStyle/>
          <a:p>
            <a:pPr indent="0" marL="0">
              <a:buNone/>
            </a:pPr>
            <a:r>
              <a:rPr lang="en-US" sz="3200" dirty="0">
                <a:solidFill>
                  <a:srgbClr val="24362C"/>
                </a:solidFill>
                <a:latin typeface="Georgia" pitchFamily="34" charset="0"/>
                <a:ea typeface="Georgia" pitchFamily="34" charset="-122"/>
                <a:cs typeface="Georgia" pitchFamily="34" charset="-120"/>
              </a:rPr>
              <a:t>On screen.</a:t>
            </a:r>
            <a:endParaRPr lang="en-US" sz="3200" dirty="0"/>
          </a:p>
        </p:txBody>
      </p:sp>
      <p:sp>
        <p:nvSpPr>
          <p:cNvPr id="5" name="Text 3"/>
          <p:cNvSpPr/>
          <p:nvPr/>
        </p:nvSpPr>
        <p:spPr>
          <a:xfrm>
            <a:off x="594360" y="1627632"/>
            <a:ext cx="777240" cy="438912"/>
          </a:xfrm>
          <a:prstGeom prst="rect">
            <a:avLst/>
          </a:prstGeom>
          <a:noFill/>
          <a:ln/>
        </p:spPr>
        <p:txBody>
          <a:bodyPr wrap="square" lIns="0" tIns="0" rIns="0" bIns="0" rtlCol="0" anchor="ctr"/>
          <a:lstStyle/>
          <a:p>
            <a:pPr indent="0" marL="0">
              <a:buNone/>
            </a:pPr>
            <a:r>
              <a:rPr lang="en-US" sz="2200" dirty="0">
                <a:solidFill>
                  <a:srgbClr val="A86647"/>
                </a:solidFill>
                <a:latin typeface="Georgia" pitchFamily="34" charset="0"/>
                <a:ea typeface="Georgia" pitchFamily="34" charset="-122"/>
                <a:cs typeface="Georgia" pitchFamily="34" charset="-120"/>
              </a:rPr>
              <a:t>01</a:t>
            </a:r>
            <a:endParaRPr lang="en-US" sz="2200" dirty="0"/>
          </a:p>
        </p:txBody>
      </p:sp>
      <p:sp>
        <p:nvSpPr>
          <p:cNvPr id="6" name="Text 4"/>
          <p:cNvSpPr/>
          <p:nvPr/>
        </p:nvSpPr>
        <p:spPr>
          <a:xfrm>
            <a:off x="1554480" y="1627632"/>
            <a:ext cx="9875520" cy="365760"/>
          </a:xfrm>
          <a:prstGeom prst="rect">
            <a:avLst/>
          </a:prstGeom>
          <a:noFill/>
          <a:ln/>
        </p:spPr>
        <p:txBody>
          <a:bodyPr wrap="square" lIns="0" tIns="0" rIns="0" bIns="0" rtlCol="0" anchor="ctr"/>
          <a:lstStyle/>
          <a:p>
            <a:pPr indent="0" marL="0">
              <a:buNone/>
            </a:pPr>
            <a:r>
              <a:rPr lang="en-US" sz="2200" dirty="0">
                <a:solidFill>
                  <a:srgbClr val="24362C"/>
                </a:solidFill>
                <a:latin typeface="Georgia" pitchFamily="34" charset="0"/>
                <a:ea typeface="Georgia" pitchFamily="34" charset="-122"/>
                <a:cs typeface="Georgia" pitchFamily="34" charset="-120"/>
              </a:rPr>
              <a:t>Scaffold the agent</a:t>
            </a:r>
            <a:endParaRPr lang="en-US" sz="2200" dirty="0"/>
          </a:p>
        </p:txBody>
      </p:sp>
      <p:sp>
        <p:nvSpPr>
          <p:cNvPr id="7" name="Text 5"/>
          <p:cNvSpPr/>
          <p:nvPr/>
        </p:nvSpPr>
        <p:spPr>
          <a:xfrm>
            <a:off x="1554480" y="1993392"/>
            <a:ext cx="9875520" cy="310896"/>
          </a:xfrm>
          <a:prstGeom prst="rect">
            <a:avLst/>
          </a:prstGeom>
          <a:noFill/>
          <a:ln/>
        </p:spPr>
        <p:txBody>
          <a:bodyPr wrap="square" lIns="0" tIns="0" rIns="0" bIns="0" rtlCol="0" anchor="ctr"/>
          <a:lstStyle/>
          <a:p>
            <a:pPr indent="0" marL="0">
              <a:buNone/>
            </a:pPr>
            <a:r>
              <a:rPr lang="en-US" sz="1500" dirty="0">
                <a:solidFill>
                  <a:srgbClr val="5C6B60"/>
                </a:solidFill>
                <a:latin typeface="Arial" pitchFamily="34" charset="0"/>
                <a:ea typeface="Arial" pitchFamily="34" charset="-122"/>
                <a:cs typeface="Arial" pitchFamily="34" charset="-120"/>
              </a:rPr>
              <a:t>A greeting, and a way to reach a person.</a:t>
            </a:r>
            <a:endParaRPr lang="en-US" sz="1500" dirty="0"/>
          </a:p>
        </p:txBody>
      </p:sp>
      <p:sp>
        <p:nvSpPr>
          <p:cNvPr id="8" name="Text 6"/>
          <p:cNvSpPr/>
          <p:nvPr/>
        </p:nvSpPr>
        <p:spPr>
          <a:xfrm>
            <a:off x="594360" y="2651760"/>
            <a:ext cx="777240" cy="438912"/>
          </a:xfrm>
          <a:prstGeom prst="rect">
            <a:avLst/>
          </a:prstGeom>
          <a:noFill/>
          <a:ln/>
        </p:spPr>
        <p:txBody>
          <a:bodyPr wrap="square" lIns="0" tIns="0" rIns="0" bIns="0" rtlCol="0" anchor="ctr"/>
          <a:lstStyle/>
          <a:p>
            <a:pPr indent="0" marL="0">
              <a:buNone/>
            </a:pPr>
            <a:r>
              <a:rPr lang="en-US" sz="2200" dirty="0">
                <a:solidFill>
                  <a:srgbClr val="A86647"/>
                </a:solidFill>
                <a:latin typeface="Georgia" pitchFamily="34" charset="0"/>
                <a:ea typeface="Georgia" pitchFamily="34" charset="-122"/>
                <a:cs typeface="Georgia" pitchFamily="34" charset="-120"/>
              </a:rPr>
              <a:t>02</a:t>
            </a:r>
            <a:endParaRPr lang="en-US" sz="2200" dirty="0"/>
          </a:p>
        </p:txBody>
      </p:sp>
      <p:sp>
        <p:nvSpPr>
          <p:cNvPr id="9" name="Text 7"/>
          <p:cNvSpPr/>
          <p:nvPr/>
        </p:nvSpPr>
        <p:spPr>
          <a:xfrm>
            <a:off x="1554480" y="2651760"/>
            <a:ext cx="9875520" cy="365760"/>
          </a:xfrm>
          <a:prstGeom prst="rect">
            <a:avLst/>
          </a:prstGeom>
          <a:noFill/>
          <a:ln/>
        </p:spPr>
        <p:txBody>
          <a:bodyPr wrap="square" lIns="0" tIns="0" rIns="0" bIns="0" rtlCol="0" anchor="ctr"/>
          <a:lstStyle/>
          <a:p>
            <a:pPr indent="0" marL="0">
              <a:buNone/>
            </a:pPr>
            <a:r>
              <a:rPr lang="en-US" sz="2200" dirty="0">
                <a:solidFill>
                  <a:srgbClr val="24362C"/>
                </a:solidFill>
                <a:latin typeface="Georgia" pitchFamily="34" charset="0"/>
                <a:ea typeface="Georgia" pitchFamily="34" charset="-122"/>
                <a:cs typeface="Georgia" pitchFamily="34" charset="-120"/>
              </a:rPr>
              <a:t>Claim its number</a:t>
            </a:r>
            <a:endParaRPr lang="en-US" sz="2200" dirty="0"/>
          </a:p>
        </p:txBody>
      </p:sp>
      <p:sp>
        <p:nvSpPr>
          <p:cNvPr id="10" name="Text 8"/>
          <p:cNvSpPr/>
          <p:nvPr/>
        </p:nvSpPr>
        <p:spPr>
          <a:xfrm>
            <a:off x="1554480" y="3017520"/>
            <a:ext cx="9875520" cy="310896"/>
          </a:xfrm>
          <a:prstGeom prst="rect">
            <a:avLst/>
          </a:prstGeom>
          <a:noFill/>
          <a:ln/>
        </p:spPr>
        <p:txBody>
          <a:bodyPr wrap="square" lIns="0" tIns="0" rIns="0" bIns="0" rtlCol="0" anchor="ctr"/>
          <a:lstStyle/>
          <a:p>
            <a:pPr indent="0" marL="0">
              <a:buNone/>
            </a:pPr>
            <a:r>
              <a:rPr lang="en-US" sz="1500" dirty="0">
                <a:solidFill>
                  <a:srgbClr val="5C6B60"/>
                </a:solidFill>
                <a:latin typeface="Arial" pitchFamily="34" charset="0"/>
                <a:ea typeface="Arial" pitchFamily="34" charset="-122"/>
                <a:cs typeface="Arial" pitchFamily="34" charset="-120"/>
              </a:rPr>
              <a:t>This is not the number customers dial.</a:t>
            </a:r>
            <a:endParaRPr lang="en-US" sz="1500" dirty="0"/>
          </a:p>
        </p:txBody>
      </p:sp>
      <p:sp>
        <p:nvSpPr>
          <p:cNvPr id="11" name="Text 9"/>
          <p:cNvSpPr/>
          <p:nvPr/>
        </p:nvSpPr>
        <p:spPr>
          <a:xfrm>
            <a:off x="594360" y="3675888"/>
            <a:ext cx="777240" cy="438912"/>
          </a:xfrm>
          <a:prstGeom prst="rect">
            <a:avLst/>
          </a:prstGeom>
          <a:noFill/>
          <a:ln/>
        </p:spPr>
        <p:txBody>
          <a:bodyPr wrap="square" lIns="0" tIns="0" rIns="0" bIns="0" rtlCol="0" anchor="ctr"/>
          <a:lstStyle/>
          <a:p>
            <a:pPr indent="0" marL="0">
              <a:buNone/>
            </a:pPr>
            <a:r>
              <a:rPr lang="en-US" sz="2200" dirty="0">
                <a:solidFill>
                  <a:srgbClr val="A86647"/>
                </a:solidFill>
                <a:latin typeface="Georgia" pitchFamily="34" charset="0"/>
                <a:ea typeface="Georgia" pitchFamily="34" charset="-122"/>
                <a:cs typeface="Georgia" pitchFamily="34" charset="-120"/>
              </a:rPr>
              <a:t>03</a:t>
            </a:r>
            <a:endParaRPr lang="en-US" sz="2200" dirty="0"/>
          </a:p>
        </p:txBody>
      </p:sp>
      <p:sp>
        <p:nvSpPr>
          <p:cNvPr id="12" name="Text 10"/>
          <p:cNvSpPr/>
          <p:nvPr/>
        </p:nvSpPr>
        <p:spPr>
          <a:xfrm>
            <a:off x="1554480" y="3675888"/>
            <a:ext cx="9875520" cy="365760"/>
          </a:xfrm>
          <a:prstGeom prst="rect">
            <a:avLst/>
          </a:prstGeom>
          <a:noFill/>
          <a:ln/>
        </p:spPr>
        <p:txBody>
          <a:bodyPr wrap="square" lIns="0" tIns="0" rIns="0" bIns="0" rtlCol="0" anchor="ctr"/>
          <a:lstStyle/>
          <a:p>
            <a:pPr indent="0" marL="0">
              <a:buNone/>
            </a:pPr>
            <a:r>
              <a:rPr lang="en-US" sz="2200" dirty="0">
                <a:solidFill>
                  <a:srgbClr val="24362C"/>
                </a:solidFill>
                <a:latin typeface="Georgia" pitchFamily="34" charset="0"/>
                <a:ea typeface="Georgia" pitchFamily="34" charset="-122"/>
                <a:cs typeface="Georgia" pitchFamily="34" charset="-120"/>
              </a:rPr>
              <a:t>Edit the contact flow</a:t>
            </a:r>
            <a:endParaRPr lang="en-US" sz="2200" dirty="0"/>
          </a:p>
        </p:txBody>
      </p:sp>
      <p:sp>
        <p:nvSpPr>
          <p:cNvPr id="13" name="Text 11"/>
          <p:cNvSpPr/>
          <p:nvPr/>
        </p:nvSpPr>
        <p:spPr>
          <a:xfrm>
            <a:off x="1554480" y="4041648"/>
            <a:ext cx="9875520" cy="310896"/>
          </a:xfrm>
          <a:prstGeom prst="rect">
            <a:avLst/>
          </a:prstGeom>
          <a:noFill/>
          <a:ln/>
        </p:spPr>
        <p:txBody>
          <a:bodyPr wrap="square" lIns="0" tIns="0" rIns="0" bIns="0" rtlCol="0" anchor="ctr"/>
          <a:lstStyle/>
          <a:p>
            <a:pPr indent="0" marL="0">
              <a:buNone/>
            </a:pPr>
            <a:r>
              <a:rPr lang="en-US" sz="1500" dirty="0">
                <a:solidFill>
                  <a:srgbClr val="5C6B60"/>
                </a:solidFill>
                <a:latin typeface="Arial" pitchFamily="34" charset="0"/>
                <a:ea typeface="Arial" pitchFamily="34" charset="-122"/>
                <a:cs typeface="Arial" pitchFamily="34" charset="-120"/>
              </a:rPr>
              <a:t>Transfer there first. Continue when that leg ends.</a:t>
            </a:r>
            <a:endParaRPr lang="en-US" sz="1500" dirty="0"/>
          </a:p>
        </p:txBody>
      </p:sp>
      <p:sp>
        <p:nvSpPr>
          <p:cNvPr id="14" name="Text 12"/>
          <p:cNvSpPr/>
          <p:nvPr/>
        </p:nvSpPr>
        <p:spPr>
          <a:xfrm>
            <a:off x="594360" y="4700016"/>
            <a:ext cx="777240" cy="438912"/>
          </a:xfrm>
          <a:prstGeom prst="rect">
            <a:avLst/>
          </a:prstGeom>
          <a:noFill/>
          <a:ln/>
        </p:spPr>
        <p:txBody>
          <a:bodyPr wrap="square" lIns="0" tIns="0" rIns="0" bIns="0" rtlCol="0" anchor="ctr"/>
          <a:lstStyle/>
          <a:p>
            <a:pPr indent="0" marL="0">
              <a:buNone/>
            </a:pPr>
            <a:r>
              <a:rPr lang="en-US" sz="2200" dirty="0">
                <a:solidFill>
                  <a:srgbClr val="A86647"/>
                </a:solidFill>
                <a:latin typeface="Georgia" pitchFamily="34" charset="0"/>
                <a:ea typeface="Georgia" pitchFamily="34" charset="-122"/>
                <a:cs typeface="Georgia" pitchFamily="34" charset="-120"/>
              </a:rPr>
              <a:t>04</a:t>
            </a:r>
            <a:endParaRPr lang="en-US" sz="2200" dirty="0"/>
          </a:p>
        </p:txBody>
      </p:sp>
      <p:sp>
        <p:nvSpPr>
          <p:cNvPr id="15" name="Text 13"/>
          <p:cNvSpPr/>
          <p:nvPr/>
        </p:nvSpPr>
        <p:spPr>
          <a:xfrm>
            <a:off x="1554480" y="4700016"/>
            <a:ext cx="9875520" cy="365760"/>
          </a:xfrm>
          <a:prstGeom prst="rect">
            <a:avLst/>
          </a:prstGeom>
          <a:noFill/>
          <a:ln/>
        </p:spPr>
        <p:txBody>
          <a:bodyPr wrap="square" lIns="0" tIns="0" rIns="0" bIns="0" rtlCol="0" anchor="ctr"/>
          <a:lstStyle/>
          <a:p>
            <a:pPr indent="0" marL="0">
              <a:buNone/>
            </a:pPr>
            <a:r>
              <a:rPr lang="en-US" sz="2200" dirty="0">
                <a:solidFill>
                  <a:srgbClr val="24362C"/>
                </a:solidFill>
                <a:latin typeface="Georgia" pitchFamily="34" charset="0"/>
                <a:ea typeface="Georgia" pitchFamily="34" charset="-122"/>
                <a:cs typeface="Georgia" pitchFamily="34" charset="-120"/>
              </a:rPr>
              <a:t>Ask for a person</a:t>
            </a:r>
            <a:endParaRPr lang="en-US" sz="2200" dirty="0"/>
          </a:p>
        </p:txBody>
      </p:sp>
      <p:sp>
        <p:nvSpPr>
          <p:cNvPr id="16" name="Text 14"/>
          <p:cNvSpPr/>
          <p:nvPr/>
        </p:nvSpPr>
        <p:spPr>
          <a:xfrm>
            <a:off x="1554480" y="5065776"/>
            <a:ext cx="9875520" cy="310896"/>
          </a:xfrm>
          <a:prstGeom prst="rect">
            <a:avLst/>
          </a:prstGeom>
          <a:noFill/>
          <a:ln/>
        </p:spPr>
        <p:txBody>
          <a:bodyPr wrap="square" lIns="0" tIns="0" rIns="0" bIns="0" rtlCol="0" anchor="ctr"/>
          <a:lstStyle/>
          <a:p>
            <a:pPr indent="0" marL="0">
              <a:buNone/>
            </a:pPr>
            <a:r>
              <a:rPr lang="en-US" sz="1500" dirty="0">
                <a:solidFill>
                  <a:srgbClr val="5C6B60"/>
                </a:solidFill>
                <a:latin typeface="Arial" pitchFamily="34" charset="0"/>
                <a:ea typeface="Arial" pitchFamily="34" charset="-122"/>
                <a:cs typeface="Arial" pitchFamily="34" charset="-120"/>
              </a:rPr>
              <a:t>Last session's rep should ring.</a:t>
            </a:r>
            <a:endParaRPr lang="en-US" sz="1500" dirty="0"/>
          </a:p>
        </p:txBody>
      </p:sp>
      <p:sp>
        <p:nvSpPr>
          <p:cNvPr id="17" name="Text 15"/>
          <p:cNvSpPr/>
          <p:nvPr/>
        </p:nvSpPr>
        <p:spPr>
          <a:xfrm>
            <a:off x="594360" y="6263640"/>
            <a:ext cx="10972800" cy="292608"/>
          </a:xfrm>
          <a:prstGeom prst="rect">
            <a:avLst/>
          </a:prstGeom>
          <a:noFill/>
          <a:ln/>
        </p:spPr>
        <p:txBody>
          <a:bodyPr wrap="square" lIns="0" tIns="0" rIns="0" bIns="0" rtlCol="0" anchor="ctr"/>
          <a:lstStyle/>
          <a:p>
            <a:pPr indent="0" marL="0">
              <a:buNone/>
            </a:pPr>
            <a:r>
              <a:rPr lang="en-US" sz="1400" dirty="0">
                <a:solidFill>
                  <a:srgbClr val="A86647"/>
                </a:solidFill>
                <a:latin typeface="Arial" pitchFamily="34" charset="0"/>
                <a:ea typeface="Arial" pitchFamily="34" charset="-122"/>
                <a:cs typeface="Arial" pitchFamily="34" charset="-120"/>
              </a:rPr>
              <a:t>No orders and no articles. Greeting and transfer only.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362C"/>
        </a:solidFill>
      </p:bgPr>
    </p:bg>
    <p:spTree>
      <p:nvGrpSpPr>
        <p:cNvPr id="1" name=""/>
        <p:cNvGrpSpPr/>
        <p:nvPr/>
      </p:nvGrpSpPr>
      <p:grpSpPr>
        <a:xfrm>
          <a:off x="0" y="0"/>
          <a:ext cx="0" cy="0"/>
          <a:chOff x="0" y="0"/>
          <a:chExt cx="0" cy="0"/>
        </a:xfrm>
      </p:grpSpPr>
      <p:sp>
        <p:nvSpPr>
          <p:cNvPr id="2" name="Text 0"/>
          <p:cNvSpPr/>
          <p:nvPr/>
        </p:nvSpPr>
        <p:spPr>
          <a:xfrm>
            <a:off x="640080" y="1325880"/>
            <a:ext cx="10789920" cy="310896"/>
          </a:xfrm>
          <a:prstGeom prst="rect">
            <a:avLst/>
          </a:prstGeom>
          <a:noFill/>
          <a:ln/>
        </p:spPr>
        <p:txBody>
          <a:bodyPr wrap="square" lIns="0" tIns="0" rIns="0" bIns="0" rtlCol="0" anchor="ctr"/>
          <a:lstStyle/>
          <a:p>
            <a:pPr indent="0" marL="0">
              <a:buNone/>
            </a:pPr>
            <a:r>
              <a:rPr lang="en-US" sz="1300" spc="180" kern="0" dirty="0">
                <a:solidFill>
                  <a:srgbClr val="E4D5C8"/>
                </a:solidFill>
                <a:latin typeface="Arial" pitchFamily="34" charset="0"/>
                <a:ea typeface="Arial" pitchFamily="34" charset="-122"/>
                <a:cs typeface="Arial" pitchFamily="34" charset="-120"/>
              </a:rPr>
              <a:t>DONE WHEN</a:t>
            </a:r>
            <a:endParaRPr lang="en-US" sz="1300" dirty="0"/>
          </a:p>
        </p:txBody>
      </p:sp>
      <p:sp>
        <p:nvSpPr>
          <p:cNvPr id="3" name="Text 1"/>
          <p:cNvSpPr/>
          <p:nvPr/>
        </p:nvSpPr>
        <p:spPr>
          <a:xfrm>
            <a:off x="640080" y="1828800"/>
            <a:ext cx="10789920" cy="1234440"/>
          </a:xfrm>
          <a:prstGeom prst="rect">
            <a:avLst/>
          </a:prstGeom>
          <a:noFill/>
          <a:ln/>
        </p:spPr>
        <p:txBody>
          <a:bodyPr wrap="square" lIns="0" tIns="0" rIns="0" bIns="0" rtlCol="0" anchor="ctr"/>
          <a:lstStyle/>
          <a:p>
            <a:pPr indent="0" marL="0">
              <a:buNone/>
            </a:pPr>
            <a:r>
              <a:rPr lang="en-US" sz="4800" dirty="0">
                <a:solidFill>
                  <a:srgbClr val="F3EEE4"/>
                </a:solidFill>
                <a:latin typeface="Georgia" pitchFamily="34" charset="0"/>
                <a:ea typeface="Georgia" pitchFamily="34" charset="-122"/>
                <a:cs typeface="Georgia" pitchFamily="34" charset="-120"/>
              </a:rPr>
              <a:t>A person still picks up.</a:t>
            </a:r>
            <a:endParaRPr lang="en-US" sz="4800" dirty="0"/>
          </a:p>
        </p:txBody>
      </p:sp>
      <p:sp>
        <p:nvSpPr>
          <p:cNvPr id="4" name="Text 2"/>
          <p:cNvSpPr/>
          <p:nvPr/>
        </p:nvSpPr>
        <p:spPr>
          <a:xfrm>
            <a:off x="640080" y="3246120"/>
            <a:ext cx="9601200" cy="960120"/>
          </a:xfrm>
          <a:prstGeom prst="rect">
            <a:avLst/>
          </a:prstGeom>
          <a:noFill/>
          <a:ln/>
        </p:spPr>
        <p:txBody>
          <a:bodyPr wrap="square" lIns="0" tIns="0" rIns="0" bIns="0" rtlCol="0" anchor="ctr"/>
          <a:lstStyle/>
          <a:p>
            <a:pPr indent="0" marL="0">
              <a:buNone/>
            </a:pPr>
            <a:r>
              <a:rPr lang="en-US" sz="2000" dirty="0">
                <a:solidFill>
                  <a:srgbClr val="E4D5C8"/>
                </a:solidFill>
                <a:latin typeface="Arial" pitchFamily="34" charset="0"/>
                <a:ea typeface="Arial" pitchFamily="34" charset="-122"/>
                <a:cs typeface="Arial" pitchFamily="34" charset="-120"/>
              </a:rPr>
              <a:t>You ask the agent for a human. The rep from session 1 answers.</a:t>
            </a:r>
            <a:endParaRPr lang="en-US" sz="2000" dirty="0"/>
          </a:p>
        </p:txBody>
      </p:sp>
      <p:sp>
        <p:nvSpPr>
          <p:cNvPr id="5" name="Text 3"/>
          <p:cNvSpPr/>
          <p:nvPr/>
        </p:nvSpPr>
        <p:spPr>
          <a:xfrm>
            <a:off x="640080" y="5212080"/>
            <a:ext cx="10515600" cy="411480"/>
          </a:xfrm>
          <a:prstGeom prst="rect">
            <a:avLst/>
          </a:prstGeom>
          <a:noFill/>
          <a:ln/>
        </p:spPr>
        <p:txBody>
          <a:bodyPr wrap="square" lIns="0" tIns="0" rIns="0" bIns="0" rtlCol="0" anchor="ctr"/>
          <a:lstStyle/>
          <a:p>
            <a:pPr indent="0" marL="0">
              <a:buNone/>
            </a:pPr>
            <a:r>
              <a:rPr lang="en-US" sz="1600" dirty="0">
                <a:solidFill>
                  <a:srgbClr val="F3EEE4"/>
                </a:solidFill>
                <a:latin typeface="Arial" pitchFamily="34" charset="0"/>
                <a:ea typeface="Arial" pitchFamily="34" charset="-122"/>
                <a:cs typeface="Arial" pitchFamily="34" charset="-120"/>
              </a:rPr>
              <a:t>Next session — where's my order?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 Cairn Outdoor Co.</dc:title>
  <dc:subject>Code with Sally — Agentforce Voice</dc:subject>
  <dc:creator>Daniel Gonzalez</dc:creator>
  <cp:lastModifiedBy>Daniel Gonzalez</cp:lastModifiedBy>
  <cp:revision>1</cp:revision>
  <dcterms:created xsi:type="dcterms:W3CDTF">2026-09-25T20:38:32Z</dcterms:created>
  <dcterms:modified xsi:type="dcterms:W3CDTF">2026-09-25T20:38:32Z</dcterms:modified>
</cp:coreProperties>
</file>